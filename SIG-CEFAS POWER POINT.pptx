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479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 ·  PANADERÍA CEFAS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SIG-CEFAS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FD9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Integrado de Gestión Operativa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procesos manuales a una plataforma web centralizada para recetarios, producción, inventario y punto de venta.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36576" cy="4572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 ·  </a:t>
            </a:r>
            <a:r>
              <a:rPr lang="en-US" sz="1400" dirty="0">
                <a:solidFill>
                  <a:srgbClr val="FA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Recetarios + Punto de Venta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proyecto y diseño de base de datos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731520"/>
            <a:ext cx="1371600" cy="137160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03120"/>
            <a:ext cx="1371600" cy="137160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4747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veremos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9601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D9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y problema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783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 operativa actual de Panadería CEFAS.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77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73152" cy="9601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D9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577840" y="1417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 SIG-CEFAS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1783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del sistema y sus módulos.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3977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73152" cy="9601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640080" y="24688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D9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258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Alcance del MVP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iniciamos con Recetarios y Punto de Venta.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377440"/>
            <a:ext cx="3977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73152" cy="9601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4892040" y="24688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D9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57784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de la base de datos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28803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Estructura, decisiones y por qué importa.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3977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73152" cy="9601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640080" y="35661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D9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325880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Normalización explicada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3977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formas normales contadas en palabras simples.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474720"/>
            <a:ext cx="39776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Shape 28"/>
          <p:cNvSpPr/>
          <p:nvPr/>
        </p:nvSpPr>
        <p:spPr>
          <a:xfrm>
            <a:off x="4709160" y="3474720"/>
            <a:ext cx="73152" cy="9601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1" name="Text 29"/>
          <p:cNvSpPr/>
          <p:nvPr/>
        </p:nvSpPr>
        <p:spPr>
          <a:xfrm>
            <a:off x="4892040" y="35661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FD9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5577840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Beneficios y conclusiones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577840" y="3977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esto significa para el negocio.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reto de operar con procesos manuales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Panadería CEFAS es una pequeña panadería con 1–2 puntos de venta que históricamente ha gestionado sus operaciones a mano: recetas en cuadernos, inventario contado de memoria y ventas anotadas en libretas.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produce tres dolores constantes: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706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Brechas de información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desconoce cuánta materia prima se usa por lote.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649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Costos imprecisos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14400" y="35295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 cálculo exacto del costo de producción.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5935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visibilidad de ventas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914400" y="4123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Cierres diarios sin un reporte confiable.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937760" y="1280160"/>
            <a:ext cx="3749040" cy="3246120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Shape 11"/>
          <p:cNvSpPr/>
          <p:nvPr/>
        </p:nvSpPr>
        <p:spPr>
          <a:xfrm>
            <a:off x="4937760" y="1280160"/>
            <a:ext cx="3749040" cy="914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2"/>
          <p:cNvSpPr/>
          <p:nvPr/>
        </p:nvSpPr>
        <p:spPr>
          <a:xfrm>
            <a:off x="51206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DÍA TÍPICO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20640" y="1828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procesos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5120640" y="2606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FD9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críticos sin trazabilidad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120640" y="3017520"/>
            <a:ext cx="1828800" cy="0"/>
          </a:xfrm>
          <a:prstGeom prst="line">
            <a:avLst/>
          </a:prstGeom>
          <a:noFill/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6"/>
          <p:cNvSpPr/>
          <p:nvPr/>
        </p:nvSpPr>
        <p:spPr>
          <a:xfrm>
            <a:off x="5120640" y="3154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error en costos o cada merma no medida es dinero que se va por la ventana del horno.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3" name="Text 1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plataforma web centralizada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es un sistema web cliente-servidor que centraliza la operación de la panadería en una sola herramienta accesible, segura y escalable, diseñada para una escala pequeña pero pensada para crecer.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777240" cy="77724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5831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Centralizar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recetas, inventario, producción y ventas en una sola fuente de verdad.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214884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3520440" y="2423160"/>
            <a:ext cx="777240" cy="77724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25831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Automatizar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20440" y="37033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de insumos en tiempo real, alertas de stock y cierres de caja sin cálculos manuales.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214884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Shape 12"/>
          <p:cNvSpPr/>
          <p:nvPr/>
        </p:nvSpPr>
        <p:spPr>
          <a:xfrm>
            <a:off x="6309360" y="2423160"/>
            <a:ext cx="777240" cy="77724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380" y="25831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Visibilizar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309360" y="37033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que muestran ventas, mermas y rentabilidad por lote a la dirección.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cuatro módulos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70332" y="1371600"/>
            <a:ext cx="2011680" cy="2926080"/>
          </a:xfrm>
          <a:prstGeom prst="rect">
            <a:avLst/>
          </a:prstGeom>
          <a:solidFill>
            <a:srgbClr val="3D2415"/>
          </a:solidFill>
          <a:ln w="9525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370332" y="1371600"/>
            <a:ext cx="2011680" cy="914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918972" y="1691640"/>
            <a:ext cx="914400" cy="91440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1772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Recetarios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7492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de fórmulas con cantidades exactas de cada insumo.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10412" y="3977640"/>
            <a:ext cx="731520" cy="20116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8"/>
          <p:cNvSpPr/>
          <p:nvPr/>
        </p:nvSpPr>
        <p:spPr>
          <a:xfrm>
            <a:off x="1010412" y="3977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MVP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00884" y="1371600"/>
            <a:ext cx="2011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Shape 10"/>
          <p:cNvSpPr/>
          <p:nvPr/>
        </p:nvSpPr>
        <p:spPr>
          <a:xfrm>
            <a:off x="2500884" y="1371600"/>
            <a:ext cx="2011680" cy="914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Shape 11"/>
          <p:cNvSpPr/>
          <p:nvPr/>
        </p:nvSpPr>
        <p:spPr>
          <a:xfrm>
            <a:off x="3049524" y="1691640"/>
            <a:ext cx="914400" cy="91440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124" y="19202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92324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638044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automatizado de materia prima y producto terminado.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31436" y="1371600"/>
            <a:ext cx="20116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Shape 15"/>
          <p:cNvSpPr/>
          <p:nvPr/>
        </p:nvSpPr>
        <p:spPr>
          <a:xfrm>
            <a:off x="4631436" y="1371600"/>
            <a:ext cx="2011680" cy="914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Shape 16"/>
          <p:cNvSpPr/>
          <p:nvPr/>
        </p:nvSpPr>
        <p:spPr>
          <a:xfrm>
            <a:off x="5180076" y="1691640"/>
            <a:ext cx="914400" cy="91440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676" y="19202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2876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768596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lotes con descuento de insumos en tiempo real.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761988" y="1371600"/>
            <a:ext cx="2011680" cy="2926080"/>
          </a:xfrm>
          <a:prstGeom prst="rect">
            <a:avLst/>
          </a:prstGeom>
          <a:solidFill>
            <a:srgbClr val="3D2415"/>
          </a:solidFill>
          <a:ln w="9525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Shape 20"/>
          <p:cNvSpPr/>
          <p:nvPr/>
        </p:nvSpPr>
        <p:spPr>
          <a:xfrm>
            <a:off x="6761988" y="1371600"/>
            <a:ext cx="2011680" cy="914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Shape 21"/>
          <p:cNvSpPr/>
          <p:nvPr/>
        </p:nvSpPr>
        <p:spPr>
          <a:xfrm>
            <a:off x="7310628" y="1691640"/>
            <a:ext cx="914400" cy="91440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9228" y="192024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53428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Punto de Venta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899148" y="31546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Transacciones, cierres de caja y reducción de stock.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402068" y="3977640"/>
            <a:ext cx="731520" cy="20116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1" name="Text 25"/>
          <p:cNvSpPr/>
          <p:nvPr/>
        </p:nvSpPr>
        <p:spPr>
          <a:xfrm>
            <a:off x="7402068" y="39776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MVP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están conectados: una venta descuenta producto terminado, una producción descuenta insumos, y los insumos vienen de la receta.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4" name="Text 28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 MVP y por qué lo usamos?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46120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324612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11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 Mínimo Viable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versión más pequeña del sistema que ya entrega valor real al negocio. En lugar de esperar meses hasta tener todo, entregamos primero lo que más duele y aprendemos del uso real.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6344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lo aplicamos aquí?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663440" y="1856232"/>
            <a:ext cx="109728" cy="10972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4892040" y="1783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Tiempo a valor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89204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panadería empieza a recibir beneficios en semanas, no en meses.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542032"/>
            <a:ext cx="109728" cy="10972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2"/>
          <p:cNvSpPr/>
          <p:nvPr/>
        </p:nvSpPr>
        <p:spPr>
          <a:xfrm>
            <a:off x="4892040" y="2468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 controlado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92040" y="27432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Validamos hipótesis con menos inversión antes de construir todo.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3227832"/>
            <a:ext cx="109728" cy="10972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5"/>
          <p:cNvSpPr/>
          <p:nvPr/>
        </p:nvSpPr>
        <p:spPr>
          <a:xfrm>
            <a:off x="4892040" y="3154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Aprendizaje real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92040" y="34290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personal usa diariamente nos enseña qué construir después.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3913632"/>
            <a:ext cx="109728" cy="109728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8"/>
          <p:cNvSpPr/>
          <p:nvPr/>
        </p:nvSpPr>
        <p:spPr>
          <a:xfrm>
            <a:off x="4892040" y="38404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Calidad enfocada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92040" y="41148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pocos módulos sólidos que muchos a medias.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Text 2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MVP cubre dos módulos: Recetarios + Punto de Venta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731520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1595628"/>
            <a:ext cx="192024" cy="1920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904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Recetarios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entrega: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51460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fórmulas (pan, pastelería).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exactas por insumo (harina, huevos, azúcar).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insumos con unidad de medida.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producción, costos e inventario.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325880"/>
            <a:ext cx="39319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3931920" cy="731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Shape 10"/>
          <p:cNvSpPr/>
          <p:nvPr/>
        </p:nvSpPr>
        <p:spPr>
          <a:xfrm>
            <a:off x="5029200" y="1508760"/>
            <a:ext cx="365760" cy="365760"/>
          </a:xfrm>
          <a:prstGeom prst="ellipse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068" y="1595628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4904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Punto de Venta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02920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entrega: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0" y="251460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táctil o con código de barras.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del total y cambio.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de inventario al cerrar la venta.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del ticket y trazabilidad diaria.</a:t>
            </a:r>
            <a:endParaRPr lang="en-US" sz="11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52628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4462272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fuera del MVP: Producción, Inventario completo, Reportes gerenciales, cierre de caja avanzado, alertas de stock.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Recetarios y Punto de Venta?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14630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713232" y="1508760"/>
            <a:ext cx="502920" cy="50292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6093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44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 la base operativa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recetas digitalizadas no hay producción medible; sin POS no hay registro real de ingresos. Todo lo demás depende de estos dos.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73152" cy="14630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Shape 9"/>
          <p:cNvSpPr/>
          <p:nvPr/>
        </p:nvSpPr>
        <p:spPr>
          <a:xfrm>
            <a:off x="4919472" y="1508760"/>
            <a:ext cx="502920" cy="50292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160934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444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inmediato en ingresos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POS reduce errores en cobro y permite controlar la caja desde el día uno; el recetario es el insumo para futuros cálculos de costo.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Shape 14"/>
          <p:cNvSpPr/>
          <p:nvPr/>
        </p:nvSpPr>
        <p:spPr>
          <a:xfrm>
            <a:off x="713232" y="3154680"/>
            <a:ext cx="502920" cy="50292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25526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090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Cubren actores principales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71600" y="34747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cajero opera el POS y el maestro panadero consume las recetas. Ambos roles centrales quedan habilitados.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663440" y="2926080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3" name="Shape 18"/>
          <p:cNvSpPr/>
          <p:nvPr/>
        </p:nvSpPr>
        <p:spPr>
          <a:xfrm>
            <a:off x="4663440" y="2926080"/>
            <a:ext cx="73152" cy="146304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Shape 19"/>
          <p:cNvSpPr/>
          <p:nvPr/>
        </p:nvSpPr>
        <p:spPr>
          <a:xfrm>
            <a:off x="4919472" y="3154680"/>
            <a:ext cx="502920" cy="50292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325526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090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Cimiento para escalar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577840" y="34747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Producción, inventario y reportes se construyen sobre estos datos. Iniciar aquí da la estructura para crecer ordenadamente.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C3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"Empezamos por donde el negocio respira: la receta que se hornea y la venta que se cobra."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Text 2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TÉCNICO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base de datos: el corazón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200400" cy="3246120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78308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5E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Donde vive toda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información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5E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negocio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840480" y="1280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base de datos bien diseñada garantiza: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72821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0" y="1691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3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Integridad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06240" y="19842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no se contradicen entre sí; lo que se guarda es lo que es.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44144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2404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3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Consistencia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20624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un dato una sola vez basta para que todo el sistema lo refleje.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15468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06240" y="31181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3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Eficiencia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206240" y="3410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consultas responden rápido aunque crezca el volumen de ventas y recetas.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867912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206240" y="38313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3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Escalabilidad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206240" y="41239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nuevos módulos (producción, reportes) sin reescribir lo existente.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3" name="Text 1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estructuramos así las tablas?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MVP necesita representar dos realidades del negocio: una receta es una lista de insumos con cantidades; una venta es una lista de productos con cantidades. Ambas son relaciones de muchos a muchos, y cada lado evoluciona por separado.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777240" cy="777240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entidad por tabla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65176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Insumos, recetas, productos, ventas y usuarios viven cada uno en su tabla. Si algo cambia (un precio, un nombre), se modifica en un solo lugar.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777240" cy="777240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71600" y="3246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Tablas intermedias para relaciones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52044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Receta-insumo y detalle-venta resuelven las relaciones de muchos a muchos y permiten guardar atributos propios de la relación (cantidad, subtotal).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777240" cy="777240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4114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Claves para vincular sin duplicar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389120"/>
            <a:ext cx="7269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tabla tiene un identificador único (ID). Las demás tablas se refieren a él, en vez de repetir datos que pueden cambiar o desincronizarse.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Entidad-Relación del MVP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caja es una entidad del negocio. </a:t>
            </a:r>
            <a:r>
              <a:rPr lang="en-US" sz="1050" b="1" i="1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líneas son relaciones</a:t>
            </a:r>
            <a:r>
              <a:rPr lang="en-US" sz="105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los círculos muestran la </a:t>
            </a:r>
            <a:r>
              <a:rPr lang="en-US" sz="1050" b="1" i="1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</a:t>
            </a:r>
            <a:r>
              <a:rPr lang="en-US" sz="105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cuántos registros de cada lado participan en la relación.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792224"/>
            <a:ext cx="1783080" cy="1097280"/>
          </a:xfrm>
          <a:prstGeom prst="rect">
            <a:avLst/>
          </a:prstGeom>
          <a:solidFill>
            <a:srgbClr val="D9C9AC"/>
          </a:solidFill>
          <a:ln w="12700">
            <a:solidFill>
              <a:srgbClr val="D9C9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783080" cy="329184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insumos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60020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5C3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id_insumo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unidad_medida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stock_actual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precio_unitario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1792224"/>
            <a:ext cx="1783080" cy="1097280"/>
          </a:xfrm>
          <a:prstGeom prst="rect">
            <a:avLst/>
          </a:prstGeom>
          <a:solidFill>
            <a:srgbClr val="D9C9AC"/>
          </a:solidFill>
          <a:ln w="12700">
            <a:solidFill>
              <a:srgbClr val="D9C9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Shape 9"/>
          <p:cNvSpPr/>
          <p:nvPr/>
        </p:nvSpPr>
        <p:spPr>
          <a:xfrm>
            <a:off x="2606040" y="173736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Shape 10"/>
          <p:cNvSpPr/>
          <p:nvPr/>
        </p:nvSpPr>
        <p:spPr>
          <a:xfrm>
            <a:off x="2606040" y="1737360"/>
            <a:ext cx="1783080" cy="32918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1"/>
          <p:cNvSpPr/>
          <p:nvPr/>
        </p:nvSpPr>
        <p:spPr>
          <a:xfrm>
            <a:off x="2651760" y="17373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receta_insumo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103120"/>
            <a:ext cx="160020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5C3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id_receta_ins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i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id_receta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i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id_insumo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00600" y="1792224"/>
            <a:ext cx="1783080" cy="1097280"/>
          </a:xfrm>
          <a:prstGeom prst="rect">
            <a:avLst/>
          </a:prstGeom>
          <a:solidFill>
            <a:srgbClr val="D9C9AC"/>
          </a:solidFill>
          <a:ln w="12700">
            <a:solidFill>
              <a:srgbClr val="D9C9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1783080" cy="329184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4800600" y="17373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recetas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103120"/>
            <a:ext cx="160020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5C3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id_receta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rendimiento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49440" y="1792224"/>
            <a:ext cx="1783080" cy="1097280"/>
          </a:xfrm>
          <a:prstGeom prst="rect">
            <a:avLst/>
          </a:prstGeom>
          <a:solidFill>
            <a:srgbClr val="D9C9AC"/>
          </a:solidFill>
          <a:ln w="12700">
            <a:solidFill>
              <a:srgbClr val="D9C9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6903720" y="173736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Shape 20"/>
          <p:cNvSpPr/>
          <p:nvPr/>
        </p:nvSpPr>
        <p:spPr>
          <a:xfrm>
            <a:off x="6903720" y="1737360"/>
            <a:ext cx="1783080" cy="329184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3" name="Text 21"/>
          <p:cNvSpPr/>
          <p:nvPr/>
        </p:nvSpPr>
        <p:spPr>
          <a:xfrm>
            <a:off x="6949440" y="17373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2103120"/>
            <a:ext cx="160020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5C3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id_producto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i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id_receta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precio_venta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stock_actual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392424"/>
            <a:ext cx="1783080" cy="1097280"/>
          </a:xfrm>
          <a:prstGeom prst="rect">
            <a:avLst/>
          </a:prstGeom>
          <a:solidFill>
            <a:srgbClr val="D9C9AC"/>
          </a:solidFill>
          <a:ln w="12700">
            <a:solidFill>
              <a:srgbClr val="D9C9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1783080" cy="329184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8" name="Text 26"/>
          <p:cNvSpPr/>
          <p:nvPr/>
        </p:nvSpPr>
        <p:spPr>
          <a:xfrm>
            <a:off x="502920" y="33375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703320"/>
            <a:ext cx="160020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5C3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id_usuario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contraseña_hash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51760" y="3392424"/>
            <a:ext cx="1783080" cy="1097280"/>
          </a:xfrm>
          <a:prstGeom prst="rect">
            <a:avLst/>
          </a:prstGeom>
          <a:solidFill>
            <a:srgbClr val="D9C9AC"/>
          </a:solidFill>
          <a:ln w="12700">
            <a:solidFill>
              <a:srgbClr val="D9C9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1" name="Shape 29"/>
          <p:cNvSpPr/>
          <p:nvPr/>
        </p:nvSpPr>
        <p:spPr>
          <a:xfrm>
            <a:off x="2606040" y="333756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2" name="Shape 30"/>
          <p:cNvSpPr/>
          <p:nvPr/>
        </p:nvSpPr>
        <p:spPr>
          <a:xfrm>
            <a:off x="2606040" y="3337560"/>
            <a:ext cx="1783080" cy="329184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3" name="Text 31"/>
          <p:cNvSpPr/>
          <p:nvPr/>
        </p:nvSpPr>
        <p:spPr>
          <a:xfrm>
            <a:off x="2651760" y="33375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97480" y="3703320"/>
            <a:ext cx="160020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5C3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id_venta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i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id_usuario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fecha_hora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monto_pagado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49440" y="3392424"/>
            <a:ext cx="1783080" cy="1097280"/>
          </a:xfrm>
          <a:prstGeom prst="rect">
            <a:avLst/>
          </a:prstGeom>
          <a:solidFill>
            <a:srgbClr val="D9C9AC"/>
          </a:solidFill>
          <a:ln w="12700">
            <a:solidFill>
              <a:srgbClr val="D9C9A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6" name="Shape 34"/>
          <p:cNvSpPr/>
          <p:nvPr/>
        </p:nvSpPr>
        <p:spPr>
          <a:xfrm>
            <a:off x="6903720" y="3337560"/>
            <a:ext cx="1783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7" name="Shape 35"/>
          <p:cNvSpPr/>
          <p:nvPr/>
        </p:nvSpPr>
        <p:spPr>
          <a:xfrm>
            <a:off x="6903720" y="3337560"/>
            <a:ext cx="1783080" cy="32918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8" name="Text 36"/>
          <p:cNvSpPr/>
          <p:nvPr/>
        </p:nvSpPr>
        <p:spPr>
          <a:xfrm>
            <a:off x="6949440" y="33375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detalle_venta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3703320"/>
            <a:ext cx="1600200" cy="69494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5C3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🔑 id_detalle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i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id_venta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i="1" dirty="0">
                <a:solidFill>
                  <a:srgbClr val="8B4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id_producto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8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50" dirty="0">
                <a:solidFill>
                  <a:srgbClr val="4A35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40280" y="2286000"/>
            <a:ext cx="365760" cy="0"/>
          </a:xfrm>
          <a:prstGeom prst="line">
            <a:avLst/>
          </a:prstGeom>
          <a:noFill/>
          <a:ln w="1905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1" name="Shape 39"/>
          <p:cNvSpPr/>
          <p:nvPr/>
        </p:nvSpPr>
        <p:spPr>
          <a:xfrm>
            <a:off x="2249424" y="2176272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2" name="Text 40"/>
          <p:cNvSpPr/>
          <p:nvPr/>
        </p:nvSpPr>
        <p:spPr>
          <a:xfrm>
            <a:off x="2249424" y="2176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2176272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4" name="Text 42"/>
          <p:cNvSpPr/>
          <p:nvPr/>
        </p:nvSpPr>
        <p:spPr>
          <a:xfrm>
            <a:off x="2377440" y="2176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89120" y="2286000"/>
            <a:ext cx="365760" cy="0"/>
          </a:xfrm>
          <a:prstGeom prst="line">
            <a:avLst/>
          </a:prstGeom>
          <a:noFill/>
          <a:ln w="1905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6" name="Shape 44"/>
          <p:cNvSpPr/>
          <p:nvPr/>
        </p:nvSpPr>
        <p:spPr>
          <a:xfrm>
            <a:off x="4398264" y="2176272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7" name="Text 45"/>
          <p:cNvSpPr/>
          <p:nvPr/>
        </p:nvSpPr>
        <p:spPr>
          <a:xfrm>
            <a:off x="4398264" y="2176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26280" y="2176272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9" name="Text 47"/>
          <p:cNvSpPr/>
          <p:nvPr/>
        </p:nvSpPr>
        <p:spPr>
          <a:xfrm>
            <a:off x="4526280" y="2176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37960" y="2286000"/>
            <a:ext cx="365760" cy="0"/>
          </a:xfrm>
          <a:prstGeom prst="line">
            <a:avLst/>
          </a:prstGeom>
          <a:noFill/>
          <a:ln w="1905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1" name="Shape 49"/>
          <p:cNvSpPr/>
          <p:nvPr/>
        </p:nvSpPr>
        <p:spPr>
          <a:xfrm>
            <a:off x="6547104" y="2176272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2" name="Text 50"/>
          <p:cNvSpPr/>
          <p:nvPr/>
        </p:nvSpPr>
        <p:spPr>
          <a:xfrm>
            <a:off x="6547104" y="2176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675120" y="2176272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4" name="Text 52"/>
          <p:cNvSpPr/>
          <p:nvPr/>
        </p:nvSpPr>
        <p:spPr>
          <a:xfrm>
            <a:off x="6675120" y="2176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40280" y="3886200"/>
            <a:ext cx="365760" cy="0"/>
          </a:xfrm>
          <a:prstGeom prst="line">
            <a:avLst/>
          </a:prstGeom>
          <a:noFill/>
          <a:ln w="1905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6" name="Shape 54"/>
          <p:cNvSpPr/>
          <p:nvPr/>
        </p:nvSpPr>
        <p:spPr>
          <a:xfrm>
            <a:off x="2249424" y="3776472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7" name="Text 55"/>
          <p:cNvSpPr/>
          <p:nvPr/>
        </p:nvSpPr>
        <p:spPr>
          <a:xfrm>
            <a:off x="2249424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377440" y="3776472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9" name="Text 57"/>
          <p:cNvSpPr/>
          <p:nvPr/>
        </p:nvSpPr>
        <p:spPr>
          <a:xfrm>
            <a:off x="2377440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389120" y="3886200"/>
            <a:ext cx="2514600" cy="0"/>
          </a:xfrm>
          <a:prstGeom prst="line">
            <a:avLst/>
          </a:prstGeom>
          <a:noFill/>
          <a:ln w="1905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1" name="Shape 59"/>
          <p:cNvSpPr/>
          <p:nvPr/>
        </p:nvSpPr>
        <p:spPr>
          <a:xfrm>
            <a:off x="4398264" y="3776472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2" name="Text 60"/>
          <p:cNvSpPr/>
          <p:nvPr/>
        </p:nvSpPr>
        <p:spPr>
          <a:xfrm>
            <a:off x="4398264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675120" y="3776472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4" name="Text 62"/>
          <p:cNvSpPr/>
          <p:nvPr/>
        </p:nvSpPr>
        <p:spPr>
          <a:xfrm>
            <a:off x="6675120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795260" y="2834640"/>
            <a:ext cx="0" cy="502920"/>
          </a:xfrm>
          <a:prstGeom prst="line">
            <a:avLst/>
          </a:prstGeom>
          <a:noFill/>
          <a:ln w="1905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6" name="Shape 64"/>
          <p:cNvSpPr/>
          <p:nvPr/>
        </p:nvSpPr>
        <p:spPr>
          <a:xfrm>
            <a:off x="7685532" y="2843784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7" name="Text 65"/>
          <p:cNvSpPr/>
          <p:nvPr/>
        </p:nvSpPr>
        <p:spPr>
          <a:xfrm>
            <a:off x="7685532" y="28437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685532" y="3108960"/>
            <a:ext cx="219456" cy="21945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9" name="Text 67"/>
          <p:cNvSpPr/>
          <p:nvPr/>
        </p:nvSpPr>
        <p:spPr>
          <a:xfrm>
            <a:off x="7685532" y="3108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4498848"/>
            <a:ext cx="8229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1" name="Text 69"/>
          <p:cNvSpPr/>
          <p:nvPr/>
        </p:nvSpPr>
        <p:spPr>
          <a:xfrm>
            <a:off x="548640" y="451713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leerlo: </a:t>
            </a:r>
            <a:r>
              <a:rPr lang="en-US" sz="9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receta lleva varios insumos, un producto sale de una receta, una venta tiene varios productos.  </a:t>
            </a:r>
            <a:r>
              <a:rPr lang="en-US" sz="9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doradas (</a:t>
            </a:r>
            <a:r>
              <a:rPr lang="en-US" sz="950" b="1" i="1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receta_insumo</a:t>
            </a:r>
            <a:r>
              <a:rPr lang="en-US" sz="9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950" b="1" i="1" dirty="0">
                <a:solidFill>
                  <a:srgbClr val="3D24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detalle_venta</a:t>
            </a:r>
            <a:r>
              <a:rPr lang="en-US" sz="9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son los puentes que resuelven las relaciones múltiples.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3" name="Text 71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significa "normalizar" una base de datos?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es organizar la información para que cada dato viva en un único lugar y se pueda combinar con los demás cuando haga falta. La idea es evitar repetir y evitar confundirse.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776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77640" cy="411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8483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— Un solo cuaderno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5146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un solo cuaderno donde, por cada venta, anota: el cajero, sus datos, los productos, sus ingredientes y los precios. Todo mezclado en cada renglón.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33832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6118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la misma información mil veces.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cambia un precio, hay que corregir cada renglón.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y datos contradictorios casi seguros.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2011680"/>
            <a:ext cx="39776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8B5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Shape 10"/>
          <p:cNvSpPr/>
          <p:nvPr/>
        </p:nvSpPr>
        <p:spPr>
          <a:xfrm>
            <a:off x="4709160" y="2011680"/>
            <a:ext cx="3977640" cy="411480"/>
          </a:xfrm>
          <a:prstGeom prst="rect">
            <a:avLst/>
          </a:prstGeom>
          <a:solidFill>
            <a:srgbClr val="7A8B5A"/>
          </a:solidFill>
          <a:ln w="12700">
            <a:solidFill>
              <a:srgbClr val="7A8B5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8483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DESPUÉS — Cuadernos organizados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46320" y="25146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cuaderno para insumos, uno para recetas, uno para productos, uno para ventas, uno para cajeros. Cada cosa anotada una sola vez y vinculada con un número.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0" y="33832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8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Beneficios: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46320" y="36118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dato vive en un solo lugar.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un precio actualiza todo a la vez.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confiable y siempre consistente.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Text 16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3 reglas, contadas con ejemplos de la panadería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594360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1FN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Primera Forma Normal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468880" cy="411480"/>
          </a:xfrm>
          <a:prstGeom prst="rect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5C3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"Una cosa por casilla"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Mal: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Receta: "harina, huevos, azúcar" todo en una sola celda.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Bien: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insumo en su propio renglón, con su cantidad.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325880"/>
            <a:ext cx="2743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3200400" y="1325880"/>
            <a:ext cx="2743200" cy="594360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3200400" y="1325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2FN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37560" y="20391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Segunda Forma Normal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2377440"/>
            <a:ext cx="2468880" cy="411480"/>
          </a:xfrm>
          <a:prstGeom prst="rect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338328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5C3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"Cada dato pertenece a la tabla correcta"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880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Mal: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precio del insumo en la tabla de recetas.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566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Bien: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precio vive en la tabla de insumos; la receta solo dice cuánto usa.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1325880"/>
            <a:ext cx="2743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6080760" y="1325880"/>
            <a:ext cx="2743200" cy="594360"/>
          </a:xfrm>
          <a:prstGeom prst="rect">
            <a:avLst/>
          </a:prstGeom>
          <a:solidFill>
            <a:srgbClr val="3D2415"/>
          </a:solidFill>
          <a:ln w="12700">
            <a:solidFill>
              <a:srgbClr val="3D2415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6080760" y="1325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3FN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0" y="20391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Tercera Forma Normal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377440"/>
            <a:ext cx="2468880" cy="411480"/>
          </a:xfrm>
          <a:prstGeom prst="rect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9" name="Text 27"/>
          <p:cNvSpPr/>
          <p:nvPr/>
        </p:nvSpPr>
        <p:spPr>
          <a:xfrm>
            <a:off x="626364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5C3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"Nada calculable ni duplicado de otra tabla"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880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Mal: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"costo total de la receta" como un campo fijo.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35661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8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Bien: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total se calcula al consultarlo, sumando insumos × precio.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3A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resultado: una base ordenada como una panadería con todo en su lugar, donde encontrar y cambiar información es rápido y seguro.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gana Panadería CEFAS con este diseño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727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99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Información confiable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6642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precio por insumo, un solo stock por producto. Lo que se ve en pantalla es lo que 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Shape 7"/>
          <p:cNvSpPr/>
          <p:nvPr/>
        </p:nvSpPr>
        <p:spPr>
          <a:xfrm>
            <a:off x="4864608" y="1481328"/>
            <a:ext cx="457200" cy="45720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5727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990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Cambios sin dolor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40680" y="16642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un precio o cambiar una receta toma segundos y se refleja en todo el sistema al instante.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258568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Shape 11"/>
          <p:cNvSpPr/>
          <p:nvPr/>
        </p:nvSpPr>
        <p:spPr>
          <a:xfrm>
            <a:off x="658368" y="2459736"/>
            <a:ext cx="457200" cy="45720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5511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Cierres de caja exactos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34440" y="2642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venta deja un registro completo y trazable: qué se vendió, a qué hora y por quién.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2258568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Shape 15"/>
          <p:cNvSpPr/>
          <p:nvPr/>
        </p:nvSpPr>
        <p:spPr>
          <a:xfrm>
            <a:off x="4864608" y="2459736"/>
            <a:ext cx="457200" cy="45720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55117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377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Listo para crecer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40680" y="26426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sumen Producción, Inventario y Reportes, encajan sobre estas mismas tablas, sin rehacer nada.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236976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Shape 19"/>
          <p:cNvSpPr/>
          <p:nvPr/>
        </p:nvSpPr>
        <p:spPr>
          <a:xfrm>
            <a:off x="658368" y="3438144"/>
            <a:ext cx="457200" cy="45720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52958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33558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Costos bajo control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234440" y="36210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insumos y las recetas digitalizadas se pueden calcular costos reales y márgenes por producto.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663440" y="3236976"/>
            <a:ext cx="4023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Shape 23"/>
          <p:cNvSpPr/>
          <p:nvPr/>
        </p:nvSpPr>
        <p:spPr>
          <a:xfrm>
            <a:off x="4864608" y="3438144"/>
            <a:ext cx="457200" cy="457200"/>
          </a:xfrm>
          <a:prstGeom prst="ellipse">
            <a:avLst/>
          </a:prstGeom>
          <a:solidFill>
            <a:srgbClr val="F5E6CC"/>
          </a:solidFill>
          <a:ln w="12700">
            <a:solidFill>
              <a:srgbClr val="F5E6C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52958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40680" y="33558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4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errores humanos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40680" y="36210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validaciones del sistema y la estructura de la base evitan precios negativos, ventas sin stock, etc.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9525">
            <a:solidFill>
              <a:srgbClr val="EFD9B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5" name="Text 27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77240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D24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05840"/>
            <a:ext cx="548640" cy="5486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importante de hoy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8620" y="2560320"/>
            <a:ext cx="2697480" cy="137160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Shape 4"/>
          <p:cNvSpPr/>
          <p:nvPr/>
        </p:nvSpPr>
        <p:spPr>
          <a:xfrm>
            <a:off x="388620" y="2560320"/>
            <a:ext cx="2697480" cy="5486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57150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MVP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" y="3154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Recetarios + POS: la base operativa y la fuente de ingresos.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23260" y="2560320"/>
            <a:ext cx="2697480" cy="137160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3223260" y="2560320"/>
            <a:ext cx="2697480" cy="5486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340614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diseño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06140" y="3154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separadas, claves que vinculan, sin datos repetidos.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57900" y="2560320"/>
            <a:ext cx="2697480" cy="137160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Shape 12"/>
          <p:cNvSpPr/>
          <p:nvPr/>
        </p:nvSpPr>
        <p:spPr>
          <a:xfrm>
            <a:off x="6057900" y="2560320"/>
            <a:ext cx="2697480" cy="54864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6240780" y="2743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2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normalización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40780" y="31546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cosa por casilla, cada dato en su tabla, nada duplicado.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371600" cy="0"/>
          </a:xfrm>
          <a:prstGeom prst="line">
            <a:avLst/>
          </a:prstGeom>
          <a:noFill/>
          <a:ln w="19050">
            <a:solidFill>
              <a:srgbClr val="D4A24C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FAF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02920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SIG-CEFAS  ·  Panadería CEFAS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bienvenidos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1853</Words>
  <Application>Microsoft Office PowerPoint</Application>
  <PresentationFormat>Presentación en pantalla (16:9)</PresentationFormat>
  <Paragraphs>288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SIG-CEFAS - Sistema Integrado de Gestión Operativa</dc:title>
  <dc:subject>PptxGenJS Presentation</dc:subject>
  <dc:creator>Equipo de Desarrollo SIG-CEFAS</dc:creator>
  <cp:lastModifiedBy>Mejia Cahuec, Cristian Alexander</cp:lastModifiedBy>
  <cp:revision>1</cp:revision>
  <dcterms:created xsi:type="dcterms:W3CDTF">2026-05-13T23:24:09Z</dcterms:created>
  <dcterms:modified xsi:type="dcterms:W3CDTF">2026-05-13T23:27:05Z</dcterms:modified>
</cp:coreProperties>
</file>